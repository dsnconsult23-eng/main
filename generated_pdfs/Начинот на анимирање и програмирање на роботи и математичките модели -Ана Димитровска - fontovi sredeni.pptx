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4" r:id="rId11"/>
    <p:sldId id="265" r:id="rId12"/>
    <p:sldId id="266" r:id="rId13"/>
  </p:sldIdLst>
  <p:sldSz cx="18288000" cy="10287000"/>
  <p:notesSz cx="6858000" cy="9144000"/>
  <p:embeddedFontLst>
    <p:embeddedFont>
      <p:font typeface="Arial" panose="020B0604020202020204" pitchFamily="34" charset="0"/>
      <p:regular r:id="rId14"/>
    </p:embeddedFont>
    <p:embeddedFont>
      <p:font typeface="Montserrat" panose="00000500000000000000" pitchFamily="2" charset="0"/>
      <p:regular r:id="rId15"/>
    </p:embeddedFont>
    <p:embeddedFont>
      <p:font typeface="Montserrat Bold" panose="020B0604020202020204" charset="0"/>
      <p:regular r:id="rId16"/>
    </p:embeddedFont>
    <p:embeddedFont>
      <p:font typeface="Poppins" panose="00000500000000000000" pitchFamily="2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Arial"/>
        <a:ea typeface="Arial"/>
        <a:cs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101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rial"/>
          <a:ea typeface="Arial"/>
          <a:cs typeface="Arial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/>
          <a:ea typeface="Arial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/>
          <a:ea typeface="Arial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/>
          <a:ea typeface="Arial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/>
          <a:ea typeface="Arial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/>
          <a:ea typeface="Arial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Arial"/>
          <a:cs typeface="Arial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.svg"/><Relationship Id="rId7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7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jpe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robotics.nasa.gov" TargetMode="External"/><Relationship Id="rId3" Type="http://schemas.openxmlformats.org/officeDocument/2006/relationships/image" Target="../media/image3.svg"/><Relationship Id="rId7" Type="http://schemas.openxmlformats.org/officeDocument/2006/relationships/hyperlink" Target="https://ocw.mit.edu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mathworks.com/discovery/robot-simulation.html" TargetMode="External"/><Relationship Id="rId5" Type="http://schemas.openxmlformats.org/officeDocument/2006/relationships/hyperlink" Target="https://www.robotics.org" TargetMode="External"/><Relationship Id="rId4" Type="http://schemas.openxmlformats.org/officeDocument/2006/relationships/image" Target="../media/image3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311199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6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6" y="0"/>
                </a:lnTo>
                <a:lnTo>
                  <a:pt x="11688756" y="1034986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8910443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10349861"/>
                </a:moveTo>
                <a:lnTo>
                  <a:pt x="11688756" y="10349861"/>
                </a:lnTo>
                <a:lnTo>
                  <a:pt x="11688756" y="0"/>
                </a:lnTo>
                <a:lnTo>
                  <a:pt x="0" y="0"/>
                </a:lnTo>
                <a:lnTo>
                  <a:pt x="0" y="10349861"/>
                </a:lnTo>
                <a:close/>
              </a:path>
            </a:pathLst>
          </a:custGeom>
          <a:blipFill>
            <a:blip r:embed="rId3">
              <a:alphaModFix amt="16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5" name="TextBox 5"/>
          <p:cNvSpPr txBox="1"/>
          <p:nvPr/>
        </p:nvSpPr>
        <p:spPr>
          <a:xfrm>
            <a:off x="697254" y="1104975"/>
            <a:ext cx="16893492" cy="5184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295"/>
              </a:lnSpc>
              <a:spcBef>
                <a:spcPct val="0"/>
              </a:spcBef>
            </a:pPr>
            <a:r>
              <a:rPr lang="mk-MK" sz="31639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sym typeface="Arial"/>
              </a:rPr>
              <a:t>РОБОТИ</a:t>
            </a:r>
            <a:endParaRPr lang="en-US" sz="31639" dirty="0">
              <a:solidFill>
                <a:srgbClr val="0194FF"/>
              </a:solidFill>
              <a:effectLst>
                <a:glow rad="1397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5208185" y="5172075"/>
            <a:ext cx="7871630" cy="10913872"/>
          </a:xfrm>
          <a:custGeom>
            <a:avLst/>
            <a:gdLst/>
            <a:ahLst/>
            <a:cxnLst/>
            <a:rect l="l" t="t" r="r" b="b"/>
            <a:pathLst>
              <a:path w="7871630" h="10913872">
                <a:moveTo>
                  <a:pt x="0" y="0"/>
                </a:moveTo>
                <a:lnTo>
                  <a:pt x="7871630" y="0"/>
                </a:lnTo>
                <a:lnTo>
                  <a:pt x="7871630" y="10913872"/>
                </a:lnTo>
                <a:lnTo>
                  <a:pt x="0" y="1091387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255014" y="7366375"/>
            <a:ext cx="4004286" cy="1891925"/>
            <a:chOff x="0" y="0"/>
            <a:chExt cx="1054627" cy="49828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54627" cy="498285"/>
            </a:xfrm>
            <a:custGeom>
              <a:avLst/>
              <a:gdLst/>
              <a:ahLst/>
              <a:cxnLst/>
              <a:rect l="l" t="t" r="r" b="b"/>
              <a:pathLst>
                <a:path w="1054627" h="498285">
                  <a:moveTo>
                    <a:pt x="0" y="0"/>
                  </a:moveTo>
                  <a:lnTo>
                    <a:pt x="1054627" y="0"/>
                  </a:lnTo>
                  <a:lnTo>
                    <a:pt x="1054627" y="498285"/>
                  </a:lnTo>
                  <a:lnTo>
                    <a:pt x="0" y="498285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054627" cy="536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914400" y="7353300"/>
            <a:ext cx="4004286" cy="1891925"/>
            <a:chOff x="0" y="0"/>
            <a:chExt cx="1054627" cy="49828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54627" cy="498285"/>
            </a:xfrm>
            <a:custGeom>
              <a:avLst/>
              <a:gdLst/>
              <a:ahLst/>
              <a:cxnLst/>
              <a:rect l="l" t="t" r="r" b="b"/>
              <a:pathLst>
                <a:path w="1054627" h="498285">
                  <a:moveTo>
                    <a:pt x="0" y="0"/>
                  </a:moveTo>
                  <a:lnTo>
                    <a:pt x="1054627" y="0"/>
                  </a:lnTo>
                  <a:lnTo>
                    <a:pt x="1054627" y="498285"/>
                  </a:lnTo>
                  <a:lnTo>
                    <a:pt x="0" y="498285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054627" cy="5363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3651315" y="7432862"/>
            <a:ext cx="3215031" cy="1625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419"/>
              </a:lnSpc>
              <a:spcBef>
                <a:spcPct val="0"/>
              </a:spcBef>
            </a:pPr>
            <a:r>
              <a:rPr lang="en-US" sz="2599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Користеjќи</a:t>
            </a:r>
            <a:r>
              <a:rPr lang="en-US" sz="2599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99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математички</a:t>
            </a:r>
            <a:r>
              <a:rPr lang="en-US" sz="2599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599" b="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модели</a:t>
            </a:r>
            <a:endParaRPr lang="en-US" sz="2599" b="1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421654" y="7493187"/>
            <a:ext cx="3215031" cy="1577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4079"/>
              </a:lnSpc>
              <a:spcBef>
                <a:spcPct val="0"/>
              </a:spcBef>
            </a:pPr>
            <a:r>
              <a:rPr lang="en-US" sz="2399" b="1" dirty="0" err="1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Начинот</a:t>
            </a:r>
            <a:r>
              <a:rPr lang="en-US" sz="2399" b="1" dirty="0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на</a:t>
            </a:r>
            <a:r>
              <a:rPr lang="en-US" sz="2399" b="1" dirty="0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 </a:t>
            </a:r>
            <a:r>
              <a:rPr lang="en-US" sz="2399" b="1" dirty="0" err="1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анимира</a:t>
            </a:r>
            <a:r>
              <a:rPr lang="mk-MK" sz="2800" b="1" dirty="0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њ</a:t>
            </a:r>
            <a:r>
              <a:rPr lang="en-US" sz="2399" b="1" dirty="0">
                <a:solidFill>
                  <a:srgbClr val="FFFFFF"/>
                </a:solidFill>
                <a:latin typeface="Arial" charset="0"/>
                <a:ea typeface="Arial"/>
                <a:cs typeface="Arial"/>
                <a:sym typeface="Arial"/>
              </a:rPr>
              <a:t>е и </a:t>
            </a:r>
            <a:r>
              <a:rPr lang="en-US" sz="2399" b="1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charset="0"/>
                <a:ea typeface="Arial"/>
                <a:cs typeface="Arial"/>
                <a:sym typeface="Arial"/>
              </a:rPr>
              <a:t>програмирање</a:t>
            </a:r>
            <a:endParaRPr lang="en-US" sz="2399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charset="0"/>
              <a:ea typeface="Arial"/>
              <a:cs typeface="Arial"/>
              <a:sym typeface="Arial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3029169" y="1136408"/>
            <a:ext cx="12226314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spc="1499" dirty="0">
                <a:solidFill>
                  <a:srgbClr val="0194FF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  <a:latin typeface="Montserrat"/>
                <a:ea typeface="Montserrat"/>
                <a:cs typeface="Montserrat"/>
                <a:sym typeface="Montserrat"/>
              </a:rPr>
              <a:t>ПРОЕКТНА</a:t>
            </a:r>
            <a:r>
              <a:rPr lang="en-US" sz="2100" spc="1499" dirty="0">
                <a:solidFill>
                  <a:srgbClr val="0194FF"/>
                </a:solidFill>
                <a:latin typeface="Montserrat"/>
                <a:ea typeface="Montserrat"/>
                <a:cs typeface="Montserrat"/>
                <a:sym typeface="Montserrat"/>
              </a:rPr>
              <a:t> ЗАДАЧА ПО MАТЕМАТИКА</a:t>
            </a:r>
          </a:p>
          <a:p>
            <a:pPr algn="ctr">
              <a:lnSpc>
                <a:spcPts val="2940"/>
              </a:lnSpc>
            </a:pPr>
            <a:r>
              <a:rPr lang="en-US" sz="2100" spc="1499" dirty="0">
                <a:solidFill>
                  <a:srgbClr val="0194FF"/>
                </a:solidFill>
                <a:latin typeface="Montserrat"/>
                <a:ea typeface="Montserrat"/>
                <a:cs typeface="Montserrat"/>
                <a:sym typeface="Montserrat"/>
              </a:rPr>
              <a:t>ТЕМА:</a:t>
            </a: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037087" y="3628347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6" y="0"/>
                </a:lnTo>
                <a:lnTo>
                  <a:pt x="11688756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028700" y="1045662"/>
            <a:ext cx="8212638" cy="8212638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483723" y="1500685"/>
            <a:ext cx="7302593" cy="7302593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l="-84048" r="-68187" b="-6836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579852" y="719389"/>
            <a:ext cx="4938410" cy="1577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62"/>
              </a:lnSpc>
            </a:pPr>
            <a:r>
              <a:rPr lang="en-US" sz="10299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Вовед</a:t>
            </a:r>
            <a:endParaRPr lang="en-US" sz="10299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0579852" y="2631905"/>
            <a:ext cx="7229981" cy="5895472"/>
            <a:chOff x="0" y="0"/>
            <a:chExt cx="1904192" cy="1552717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04192" cy="1552717"/>
            </a:xfrm>
            <a:custGeom>
              <a:avLst/>
              <a:gdLst/>
              <a:ahLst/>
              <a:cxnLst/>
              <a:rect l="l" t="t" r="r" b="b"/>
              <a:pathLst>
                <a:path w="1904192" h="1552717">
                  <a:moveTo>
                    <a:pt x="0" y="0"/>
                  </a:moveTo>
                  <a:lnTo>
                    <a:pt x="1904192" y="0"/>
                  </a:lnTo>
                  <a:lnTo>
                    <a:pt x="1904192" y="1552717"/>
                  </a:lnTo>
                  <a:lnTo>
                    <a:pt x="0" y="1552717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904192" cy="15908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840091" y="2725655"/>
            <a:ext cx="6740962" cy="59866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оботите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денес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имаат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широка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придонесуваат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ефикасност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подобар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квалитет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живот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Примена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Индустрија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автоматизација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Медицина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прецизни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операции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Образование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учење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Секојдневие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помош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Движењето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роботите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анализира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преку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анимација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симулација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Симулација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Тестирање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без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ризик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Откривање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грешки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Програмирањето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обезбедува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контрола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сигурност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Програмирање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Управување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движење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9346" lvl="1" indent="-169673" algn="l">
              <a:lnSpc>
                <a:spcPts val="2672"/>
              </a:lnSpc>
              <a:spcBef>
                <a:spcPct val="0"/>
              </a:spcBef>
              <a:buFont typeface="Arial"/>
              <a:buChar char="•"/>
            </a:pP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Обработка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571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571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податоци</a:t>
            </a:r>
            <a:endParaRPr lang="en-US" sz="1571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672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672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641260" y="6741920"/>
            <a:ext cx="9564412" cy="2379526"/>
            <a:chOff x="0" y="0"/>
            <a:chExt cx="2519022" cy="62670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19022" cy="626707"/>
            </a:xfrm>
            <a:custGeom>
              <a:avLst/>
              <a:gdLst/>
              <a:ahLst/>
              <a:cxnLst/>
              <a:rect l="l" t="t" r="r" b="b"/>
              <a:pathLst>
                <a:path w="2519022" h="626707">
                  <a:moveTo>
                    <a:pt x="0" y="0"/>
                  </a:moveTo>
                  <a:lnTo>
                    <a:pt x="2519022" y="0"/>
                  </a:lnTo>
                  <a:lnTo>
                    <a:pt x="2519022" y="626707"/>
                  </a:lnTo>
                  <a:lnTo>
                    <a:pt x="0" y="626707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519022" cy="664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1260" y="4666052"/>
            <a:ext cx="9564412" cy="4455394"/>
            <a:chOff x="0" y="0"/>
            <a:chExt cx="2519022" cy="11734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519022" cy="1173437"/>
            </a:xfrm>
            <a:custGeom>
              <a:avLst/>
              <a:gdLst/>
              <a:ahLst/>
              <a:cxnLst/>
              <a:rect l="l" t="t" r="r" b="b"/>
              <a:pathLst>
                <a:path w="2519022" h="1173437">
                  <a:moveTo>
                    <a:pt x="0" y="0"/>
                  </a:moveTo>
                  <a:lnTo>
                    <a:pt x="2519022" y="0"/>
                  </a:lnTo>
                  <a:lnTo>
                    <a:pt x="2519022" y="1173437"/>
                  </a:lnTo>
                  <a:lnTo>
                    <a:pt x="0" y="1173437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519022" cy="1211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122805" y="1735266"/>
            <a:ext cx="13303688" cy="7523034"/>
            <a:chOff x="0" y="0"/>
            <a:chExt cx="634529" cy="35881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4529" cy="358817"/>
            </a:xfrm>
            <a:custGeom>
              <a:avLst/>
              <a:gdLst/>
              <a:ahLst/>
              <a:cxnLst/>
              <a:rect l="l" t="t" r="r" b="b"/>
              <a:pathLst>
                <a:path w="634529" h="358817">
                  <a:moveTo>
                    <a:pt x="431329" y="0"/>
                  </a:moveTo>
                  <a:lnTo>
                    <a:pt x="0" y="0"/>
                  </a:lnTo>
                  <a:lnTo>
                    <a:pt x="203200" y="358817"/>
                  </a:lnTo>
                  <a:lnTo>
                    <a:pt x="634529" y="358817"/>
                  </a:lnTo>
                  <a:lnTo>
                    <a:pt x="431329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431329" cy="3969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8260677"/>
            <a:ext cx="8115300" cy="23892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Роботи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6708928" y="2060056"/>
            <a:ext cx="7745782" cy="6777560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blipFill>
              <a:blip r:embed="rId4"/>
              <a:stretch>
                <a:fillRect l="-5048" r="-69951"/>
              </a:stretch>
            </a:blipFill>
          </p:spPr>
        </p:sp>
      </p:grpSp>
      <p:grpSp>
        <p:nvGrpSpPr>
          <p:cNvPr id="16" name="Group 16"/>
          <p:cNvGrpSpPr/>
          <p:nvPr/>
        </p:nvGrpSpPr>
        <p:grpSpPr>
          <a:xfrm>
            <a:off x="10986641" y="2060056"/>
            <a:ext cx="7745782" cy="6777560"/>
            <a:chOff x="0" y="0"/>
            <a:chExt cx="812800" cy="711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711200"/>
            </a:xfrm>
            <a:custGeom>
              <a:avLst/>
              <a:gdLst/>
              <a:ahLst/>
              <a:cxnLst/>
              <a:rect l="l" t="t" r="r" b="b"/>
              <a:pathLst>
                <a:path w="812800" h="711200">
                  <a:moveTo>
                    <a:pt x="406400" y="0"/>
                  </a:moveTo>
                  <a:lnTo>
                    <a:pt x="812800" y="711200"/>
                  </a:lnTo>
                  <a:lnTo>
                    <a:pt x="0" y="7112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60329" r="-14670"/>
              </a:stretch>
            </a:blipFill>
          </p:spPr>
        </p:sp>
      </p:grpSp>
      <p:sp>
        <p:nvSpPr>
          <p:cNvPr id="18" name="TextBox 18"/>
          <p:cNvSpPr txBox="1"/>
          <p:nvPr/>
        </p:nvSpPr>
        <p:spPr>
          <a:xfrm>
            <a:off x="1641260" y="2050531"/>
            <a:ext cx="5067667" cy="2317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40"/>
              </a:lnSpc>
            </a:pPr>
            <a:r>
              <a:rPr lang="en-US" sz="507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Анимациjа</a:t>
            </a:r>
            <a:r>
              <a:rPr lang="en-US" sz="507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507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симулациjа</a:t>
            </a:r>
            <a:r>
              <a:rPr lang="en-US" sz="507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07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каj</a:t>
            </a:r>
            <a:r>
              <a:rPr lang="en-US" sz="507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07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роботите</a:t>
            </a:r>
            <a:endParaRPr lang="en-US" sz="5074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814836" y="4869994"/>
            <a:ext cx="6213690" cy="3980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11"/>
              </a:lnSpc>
              <a:spcBef>
                <a:spcPct val="0"/>
              </a:spcBef>
            </a:pPr>
            <a:r>
              <a:rPr lang="en-US" sz="135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Анимацијата овозможува визуелно прикажување надвижењето на роботот</a:t>
            </a:r>
            <a:r>
              <a:rPr lang="en-US" sz="135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додека симулацијата претставува подетално моделирање нанеговото однесување во виртуелна средина. Со нивна помош може да се прикаже како роботот се движи, како реагира на надворешни услови и како ги извршува зададените задачи, без потреба од реален робот.</a:t>
            </a:r>
          </a:p>
          <a:p>
            <a:pPr marL="0" lvl="0" indent="0" algn="l">
              <a:lnSpc>
                <a:spcPts val="2311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311"/>
              </a:lnSpc>
              <a:spcBef>
                <a:spcPct val="0"/>
              </a:spcBef>
            </a:pPr>
            <a:r>
              <a:rPr lang="en-US" sz="135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Симулацијата овозможува тестирање на роботските алгоритми пред нивна практична примена. Во виртуелна средина можеда се анализираат брзината на движење, стабилноста, насоката и можните судирисо пречки. На овој начин се откриваат програмски и логички грешки кои, доколкуне се забележат навреме, би можеле да предизвикаат оштетување на роботот илинебезбедно однесување во реална средина.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 dirty="0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76507" y="0"/>
            <a:ext cx="9946915" cy="9258300"/>
            <a:chOff x="0" y="0"/>
            <a:chExt cx="654941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54941" cy="609600"/>
            </a:xfrm>
            <a:custGeom>
              <a:avLst/>
              <a:gdLst/>
              <a:ahLst/>
              <a:cxnLst/>
              <a:rect l="l" t="t" r="r" b="b"/>
              <a:pathLst>
                <a:path w="654941" h="609600">
                  <a:moveTo>
                    <a:pt x="451741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54941" y="609600"/>
                  </a:lnTo>
                  <a:lnTo>
                    <a:pt x="451741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451741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5842" y="0"/>
            <a:ext cx="8848246" cy="8911112"/>
            <a:chOff x="0" y="0"/>
            <a:chExt cx="605299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05299" cy="609600"/>
            </a:xfrm>
            <a:custGeom>
              <a:avLst/>
              <a:gdLst/>
              <a:ahLst/>
              <a:cxnLst/>
              <a:rect l="l" t="t" r="r" b="b"/>
              <a:pathLst>
                <a:path w="605299" h="609600">
                  <a:moveTo>
                    <a:pt x="40209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05299" y="609600"/>
                  </a:lnTo>
                  <a:lnTo>
                    <a:pt x="402099" y="0"/>
                  </a:lnTo>
                  <a:close/>
                </a:path>
              </a:pathLst>
            </a:custGeom>
            <a:blipFill>
              <a:blip r:embed="rId4"/>
              <a:stretch>
                <a:fillRect l="-42037" r="-883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9657736" y="5971342"/>
            <a:ext cx="7601564" cy="3286958"/>
            <a:chOff x="0" y="0"/>
            <a:chExt cx="1409788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409788" cy="609600"/>
            </a:xfrm>
            <a:custGeom>
              <a:avLst/>
              <a:gdLst/>
              <a:ahLst/>
              <a:cxnLst/>
              <a:rect l="l" t="t" r="r" b="b"/>
              <a:pathLst>
                <a:path w="1409788" h="609600">
                  <a:moveTo>
                    <a:pt x="1206588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409788" y="609600"/>
                  </a:lnTo>
                  <a:lnTo>
                    <a:pt x="1206588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1206588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64974" y="6337252"/>
            <a:ext cx="6387087" cy="2555138"/>
            <a:chOff x="0" y="0"/>
            <a:chExt cx="1523819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23819" cy="609600"/>
            </a:xfrm>
            <a:custGeom>
              <a:avLst/>
              <a:gdLst/>
              <a:ahLst/>
              <a:cxnLst/>
              <a:rect l="l" t="t" r="r" b="b"/>
              <a:pathLst>
                <a:path w="1523819" h="609600">
                  <a:moveTo>
                    <a:pt x="132061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523819" y="609600"/>
                  </a:lnTo>
                  <a:lnTo>
                    <a:pt x="1320619" y="0"/>
                  </a:lnTo>
                  <a:close/>
                </a:path>
              </a:pathLst>
            </a:custGeom>
            <a:blipFill>
              <a:blip r:embed="rId5" cstate="print"/>
              <a:stretch>
                <a:fillRect t="-50729" b="-1612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-1343492" y="5535493"/>
            <a:ext cx="7639451" cy="2650959"/>
            <a:chOff x="0" y="0"/>
            <a:chExt cx="1756726" cy="6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56726" cy="609600"/>
            </a:xfrm>
            <a:custGeom>
              <a:avLst/>
              <a:gdLst/>
              <a:ahLst/>
              <a:cxnLst/>
              <a:rect l="l" t="t" r="r" b="b"/>
              <a:pathLst>
                <a:path w="1756726" h="609600">
                  <a:moveTo>
                    <a:pt x="1553526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1756726" y="609600"/>
                  </a:lnTo>
                  <a:lnTo>
                    <a:pt x="1553526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-38100"/>
              <a:ext cx="155352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476507" y="6193731"/>
            <a:ext cx="5335236" cy="1528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0"/>
              </a:lnSpc>
            </a:pPr>
            <a:r>
              <a:rPr lang="mk-MK" sz="498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Програмира</a:t>
            </a:r>
            <a:r>
              <a:rPr lang="mk-MK" sz="54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sym typeface="Arial"/>
              </a:rPr>
              <a:t>ње</a:t>
            </a:r>
            <a:r>
              <a:rPr lang="mk-MK" sz="498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на роботи</a:t>
            </a:r>
            <a:endParaRPr lang="en-US" sz="4984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144000" y="359139"/>
            <a:ext cx="8451286" cy="5978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роботиката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користат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различни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програмски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јазици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–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визуелни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едноставни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текстуални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Python и C++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посложени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системи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Програмата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управува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моторите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обработува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податоците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сензорите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носи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одлуки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Улога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програмирањето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Контрола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движење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Обработка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сензорски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податоци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Донесување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одлуки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Програмирањето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поврзано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математиката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бидејќи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алгоритмите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пресметуваат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позиција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агол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време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Автономија</a:t>
            </a:r>
            <a:endParaRPr lang="en-US" sz="1556" b="1" u="none" strike="noStrike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Условни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наредби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(if)</a:t>
            </a: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b="1" u="none" strike="noStrike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Повторувања</a:t>
            </a:r>
            <a:r>
              <a:rPr lang="en-US" sz="1556" b="1" u="none" strike="noStrike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(loops)</a:t>
            </a:r>
          </a:p>
          <a:p>
            <a:pPr marL="336046" lvl="1" indent="-168023" algn="l">
              <a:lnSpc>
                <a:spcPts val="2646"/>
              </a:lnSpc>
              <a:spcBef>
                <a:spcPct val="0"/>
              </a:spcBef>
              <a:buFont typeface="Arial"/>
              <a:buChar char="•"/>
            </a:pP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Реакција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околината</a:t>
            </a:r>
            <a:endParaRPr lang="en-US" sz="1556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Заклучок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Без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програмирање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само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механичка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56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конструкција</a:t>
            </a:r>
            <a:r>
              <a:rPr lang="en-US" sz="1556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646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2016241" y="6330331"/>
            <a:ext cx="5817480" cy="3571164"/>
            <a:chOff x="0" y="0"/>
            <a:chExt cx="662032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2032" cy="406400"/>
            </a:xfrm>
            <a:custGeom>
              <a:avLst/>
              <a:gdLst/>
              <a:ahLst/>
              <a:cxnLst/>
              <a:rect l="l" t="t" r="r" b="b"/>
              <a:pathLst>
                <a:path w="662032" h="406400">
                  <a:moveTo>
                    <a:pt x="0" y="0"/>
                  </a:moveTo>
                  <a:lnTo>
                    <a:pt x="458832" y="0"/>
                  </a:lnTo>
                  <a:lnTo>
                    <a:pt x="662032" y="203200"/>
                  </a:lnTo>
                  <a:lnTo>
                    <a:pt x="45883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77800" y="-38100"/>
              <a:ext cx="40803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702144" y="6577246"/>
            <a:ext cx="4723305" cy="3077333"/>
            <a:chOff x="0" y="0"/>
            <a:chExt cx="623771" cy="4064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23771" cy="406400"/>
            </a:xfrm>
            <a:custGeom>
              <a:avLst/>
              <a:gdLst/>
              <a:ahLst/>
              <a:cxnLst/>
              <a:rect l="l" t="t" r="r" b="b"/>
              <a:pathLst>
                <a:path w="623771" h="406400">
                  <a:moveTo>
                    <a:pt x="0" y="0"/>
                  </a:moveTo>
                  <a:lnTo>
                    <a:pt x="420571" y="0"/>
                  </a:lnTo>
                  <a:lnTo>
                    <a:pt x="623771" y="203200"/>
                  </a:lnTo>
                  <a:lnTo>
                    <a:pt x="42057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l="-45838" t="-62469" r="-12939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235260" y="6330331"/>
            <a:ext cx="5817480" cy="3571164"/>
            <a:chOff x="0" y="0"/>
            <a:chExt cx="662032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62032" cy="406400"/>
            </a:xfrm>
            <a:custGeom>
              <a:avLst/>
              <a:gdLst/>
              <a:ahLst/>
              <a:cxnLst/>
              <a:rect l="l" t="t" r="r" b="b"/>
              <a:pathLst>
                <a:path w="662032" h="406400">
                  <a:moveTo>
                    <a:pt x="0" y="0"/>
                  </a:moveTo>
                  <a:lnTo>
                    <a:pt x="458832" y="0"/>
                  </a:lnTo>
                  <a:lnTo>
                    <a:pt x="662032" y="203200"/>
                  </a:lnTo>
                  <a:lnTo>
                    <a:pt x="45883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77800" y="-38100"/>
              <a:ext cx="40803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6921164" y="6577246"/>
            <a:ext cx="4723305" cy="3077333"/>
            <a:chOff x="0" y="0"/>
            <a:chExt cx="623771" cy="4064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23771" cy="406400"/>
            </a:xfrm>
            <a:custGeom>
              <a:avLst/>
              <a:gdLst/>
              <a:ahLst/>
              <a:cxnLst/>
              <a:rect l="l" t="t" r="r" b="b"/>
              <a:pathLst>
                <a:path w="623771" h="406400">
                  <a:moveTo>
                    <a:pt x="0" y="0"/>
                  </a:moveTo>
                  <a:lnTo>
                    <a:pt x="420571" y="0"/>
                  </a:lnTo>
                  <a:lnTo>
                    <a:pt x="623771" y="203200"/>
                  </a:lnTo>
                  <a:lnTo>
                    <a:pt x="420571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5115" b="-65115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0454280" y="6330331"/>
            <a:ext cx="5817480" cy="3571164"/>
            <a:chOff x="0" y="0"/>
            <a:chExt cx="662032" cy="4064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2032" cy="406400"/>
            </a:xfrm>
            <a:custGeom>
              <a:avLst/>
              <a:gdLst/>
              <a:ahLst/>
              <a:cxnLst/>
              <a:rect l="l" t="t" r="r" b="b"/>
              <a:pathLst>
                <a:path w="662032" h="406400">
                  <a:moveTo>
                    <a:pt x="0" y="0"/>
                  </a:moveTo>
                  <a:lnTo>
                    <a:pt x="458832" y="0"/>
                  </a:lnTo>
                  <a:lnTo>
                    <a:pt x="662032" y="203200"/>
                  </a:lnTo>
                  <a:lnTo>
                    <a:pt x="458832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77800" y="-38100"/>
              <a:ext cx="408032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1140183" y="6577246"/>
            <a:ext cx="4723305" cy="3077333"/>
            <a:chOff x="0" y="0"/>
            <a:chExt cx="623771" cy="406400"/>
          </a:xfrm>
        </p:grpSpPr>
        <p:sp>
          <p:nvSpPr>
            <p:cNvPr id="19" name="Freeform 19"/>
            <p:cNvSpPr/>
            <p:nvPr/>
          </p:nvSpPr>
          <p:spPr>
            <a:xfrm flipH="1">
              <a:off x="0" y="0"/>
              <a:ext cx="623771" cy="406400"/>
            </a:xfrm>
            <a:custGeom>
              <a:avLst/>
              <a:gdLst/>
              <a:ahLst/>
              <a:cxnLst/>
              <a:rect l="l" t="t" r="r" b="b"/>
              <a:pathLst>
                <a:path w="623771" h="406400">
                  <a:moveTo>
                    <a:pt x="623771" y="0"/>
                  </a:moveTo>
                  <a:lnTo>
                    <a:pt x="203200" y="0"/>
                  </a:lnTo>
                  <a:lnTo>
                    <a:pt x="0" y="203200"/>
                  </a:lnTo>
                  <a:lnTo>
                    <a:pt x="203200" y="406400"/>
                  </a:lnTo>
                  <a:lnTo>
                    <a:pt x="623771" y="406400"/>
                  </a:lnTo>
                  <a:lnTo>
                    <a:pt x="420571" y="203200"/>
                  </a:lnTo>
                  <a:lnTo>
                    <a:pt x="623771" y="0"/>
                  </a:lnTo>
                  <a:close/>
                </a:path>
              </a:pathLst>
            </a:custGeom>
            <a:blipFill>
              <a:blip r:embed="rId6" cstate="print"/>
              <a:stretch>
                <a:fillRect t="-85983" b="-44247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1057670" y="2420467"/>
            <a:ext cx="5532848" cy="24007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3"/>
              </a:lnSpc>
            </a:pP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Вероjатност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статистика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математички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модел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во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8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роботиката</a:t>
            </a:r>
            <a:r>
              <a:rPr lang="en-US" sz="38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6971518" y="887786"/>
            <a:ext cx="10502959" cy="5129703"/>
            <a:chOff x="0" y="0"/>
            <a:chExt cx="2093496" cy="1022475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093496" cy="1022475"/>
            </a:xfrm>
            <a:custGeom>
              <a:avLst/>
              <a:gdLst/>
              <a:ahLst/>
              <a:cxnLst/>
              <a:rect l="l" t="t" r="r" b="b"/>
              <a:pathLst>
                <a:path w="2093496" h="1022475">
                  <a:moveTo>
                    <a:pt x="0" y="0"/>
                  </a:moveTo>
                  <a:lnTo>
                    <a:pt x="2093496" y="0"/>
                  </a:lnTo>
                  <a:lnTo>
                    <a:pt x="2093496" y="1022475"/>
                  </a:lnTo>
                  <a:lnTo>
                    <a:pt x="0" y="1022475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2093496" cy="106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7120306" y="949793"/>
            <a:ext cx="4932433" cy="5360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Роботите</a:t>
            </a:r>
            <a:r>
              <a:rPr lang="en-US" sz="1306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работат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веројатности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проценат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позиција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присуство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наместо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една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вредност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Веројатности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Проценка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позиција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Детекција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400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пречки</a:t>
            </a:r>
            <a:endParaRPr lang="en-US" sz="1400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Статистиката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подобрување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точноста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преку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повеќе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Статистика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Пресметка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просек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Намалување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грешки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🔹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Пример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Сензор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растојание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Постојат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шум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и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грешки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прават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повеќе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2101" lvl="1" indent="-141050" algn="l">
              <a:lnSpc>
                <a:spcPts val="2221"/>
              </a:lnSpc>
              <a:spcBef>
                <a:spcPct val="0"/>
              </a:spcBef>
              <a:buFont typeface="Arial"/>
              <a:buChar char="•"/>
            </a:pP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користи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просек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точна</a:t>
            </a:r>
            <a:r>
              <a:rPr lang="en-US" sz="1306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306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проценка</a:t>
            </a:r>
            <a:endParaRPr lang="en-US" sz="1306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algn="l">
              <a:lnSpc>
                <a:spcPts val="2221"/>
              </a:lnSpc>
              <a:spcBef>
                <a:spcPct val="0"/>
              </a:spcBef>
            </a:pPr>
            <a:endParaRPr/>
          </a:p>
          <a:p>
            <a:pPr algn="l">
              <a:lnSpc>
                <a:spcPts val="2221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221"/>
              </a:lnSpc>
              <a:spcBef>
                <a:spcPct val="0"/>
              </a:spcBef>
            </a:pPr>
            <a:endParaRPr/>
          </a:p>
        </p:txBody>
      </p:sp>
      <p:grpSp>
        <p:nvGrpSpPr>
          <p:cNvPr id="25" name="Group 25"/>
          <p:cNvGrpSpPr/>
          <p:nvPr/>
        </p:nvGrpSpPr>
        <p:grpSpPr>
          <a:xfrm>
            <a:off x="12222998" y="887786"/>
            <a:ext cx="5251480" cy="5129703"/>
            <a:chOff x="0" y="0"/>
            <a:chExt cx="1046748" cy="1022475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1046748" cy="1022475"/>
            </a:xfrm>
            <a:custGeom>
              <a:avLst/>
              <a:gdLst/>
              <a:ahLst/>
              <a:cxnLst/>
              <a:rect l="l" t="t" r="r" b="b"/>
              <a:pathLst>
                <a:path w="1046748" h="1022475">
                  <a:moveTo>
                    <a:pt x="0" y="0"/>
                  </a:moveTo>
                  <a:lnTo>
                    <a:pt x="1046748" y="0"/>
                  </a:lnTo>
                  <a:lnTo>
                    <a:pt x="1046748" y="1022475"/>
                  </a:lnTo>
                  <a:lnTo>
                    <a:pt x="0" y="1022475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27" name="TextBox 27"/>
            <p:cNvSpPr txBox="1"/>
            <p:nvPr/>
          </p:nvSpPr>
          <p:spPr>
            <a:xfrm>
              <a:off x="0" y="-38100"/>
              <a:ext cx="1046748" cy="10605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2249626" y="830636"/>
            <a:ext cx="5198223" cy="55320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Ако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роботот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направи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растојание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тогаш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просечната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вредност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пресметува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формулата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каде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што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Оваа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вредност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роботот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ја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најдобра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проценка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реалното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растојание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да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знае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колку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расфрлани</a:t>
            </a:r>
            <a:endParaRPr lang="en-US" sz="1278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околу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просекот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користи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стандардното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отстапување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пресметува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σ –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стандардно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отстапување</a:t>
            </a:r>
            <a:endParaRPr lang="en-US" sz="1278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поголема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вредност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значи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поголема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несигурност</a:t>
            </a:r>
            <a:endParaRPr lang="en-US" sz="1278" u="none" strike="noStrik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Колку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е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помало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стандардното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отстапување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толку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мерењата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посигурни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Ако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роботот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наоѓа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точка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A(2,3) , а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е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точка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B(7,8),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тогаш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растојанието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е:</a:t>
            </a:r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174"/>
              </a:lnSpc>
              <a:spcBef>
                <a:spcPct val="0"/>
              </a:spcBef>
            </a:pP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Значи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пречката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се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наоѓа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околу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7.07 </a:t>
            </a:r>
            <a:r>
              <a:rPr lang="en-US" sz="1278" u="none" strike="noStrike" dirty="0" err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метри</a:t>
            </a:r>
            <a:r>
              <a:rPr lang="en-US" sz="1278" u="none" strike="noStrik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335000" y="1181100"/>
            <a:ext cx="3192860" cy="1127303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563600" y="2933700"/>
            <a:ext cx="2788748" cy="1110335"/>
          </a:xfrm>
          <a:prstGeom prst="rect">
            <a:avLst/>
          </a:prstGeom>
        </p:spPr>
      </p:pic>
      <p:pic>
        <p:nvPicPr>
          <p:cNvPr id="31" name="Picture 3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868400" y="5219700"/>
            <a:ext cx="2648722" cy="81346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2275314" y="1512949"/>
            <a:ext cx="7620583" cy="3723546"/>
            <a:chOff x="0" y="0"/>
            <a:chExt cx="1247603" cy="6096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47603" cy="609600"/>
            </a:xfrm>
            <a:custGeom>
              <a:avLst/>
              <a:gdLst/>
              <a:ahLst/>
              <a:cxnLst/>
              <a:rect l="l" t="t" r="r" b="b"/>
              <a:pathLst>
                <a:path w="1247603" h="609600">
                  <a:moveTo>
                    <a:pt x="203200" y="0"/>
                  </a:moveTo>
                  <a:lnTo>
                    <a:pt x="1247603" y="0"/>
                  </a:lnTo>
                  <a:lnTo>
                    <a:pt x="104440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101600" y="-38100"/>
              <a:ext cx="104440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797346" y="1842104"/>
            <a:ext cx="6576518" cy="3065237"/>
            <a:chOff x="0" y="0"/>
            <a:chExt cx="1307907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07907" cy="609600"/>
            </a:xfrm>
            <a:custGeom>
              <a:avLst/>
              <a:gdLst/>
              <a:ahLst/>
              <a:cxnLst/>
              <a:rect l="l" t="t" r="r" b="b"/>
              <a:pathLst>
                <a:path w="1307907" h="609600">
                  <a:moveTo>
                    <a:pt x="203200" y="0"/>
                  </a:moveTo>
                  <a:lnTo>
                    <a:pt x="1307907" y="0"/>
                  </a:lnTo>
                  <a:lnTo>
                    <a:pt x="110470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t="-9377" b="-5153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8829232" y="5534754"/>
            <a:ext cx="8685185" cy="4243728"/>
            <a:chOff x="0" y="0"/>
            <a:chExt cx="1247603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47603" cy="609600"/>
            </a:xfrm>
            <a:custGeom>
              <a:avLst/>
              <a:gdLst/>
              <a:ahLst/>
              <a:cxnLst/>
              <a:rect l="l" t="t" r="r" b="b"/>
              <a:pathLst>
                <a:path w="1247603" h="609600">
                  <a:moveTo>
                    <a:pt x="203200" y="0"/>
                  </a:moveTo>
                  <a:lnTo>
                    <a:pt x="1247603" y="0"/>
                  </a:lnTo>
                  <a:lnTo>
                    <a:pt x="104440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101600" y="-38100"/>
              <a:ext cx="104440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351265" y="5863909"/>
            <a:ext cx="7110221" cy="3313990"/>
            <a:chOff x="0" y="0"/>
            <a:chExt cx="1307907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307907" cy="609600"/>
            </a:xfrm>
            <a:custGeom>
              <a:avLst/>
              <a:gdLst/>
              <a:ahLst/>
              <a:cxnLst/>
              <a:rect l="l" t="t" r="r" b="b"/>
              <a:pathLst>
                <a:path w="1307907" h="609600">
                  <a:moveTo>
                    <a:pt x="203200" y="0"/>
                  </a:moveTo>
                  <a:lnTo>
                    <a:pt x="1307907" y="0"/>
                  </a:lnTo>
                  <a:lnTo>
                    <a:pt x="110470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/>
              <a:stretch>
                <a:fillRect t="-6677" b="-6677"/>
              </a:stretch>
            </a:blipFill>
          </p:spPr>
        </p:sp>
      </p:grpSp>
      <p:sp>
        <p:nvSpPr>
          <p:cNvPr id="14" name="TextBox 1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013676" y="2053413"/>
            <a:ext cx="8697457" cy="2678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Линеарна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алгебра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основа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опис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движенето</a:t>
            </a:r>
            <a:endParaRPr lang="en-US" sz="5754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2013676" y="5086350"/>
            <a:ext cx="6144603" cy="486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 помош на вектори и матрици се опишуваат положбата и ориентацијата на роботите во просторот. Иако движењето на роботите често е нелинеарно</a:t>
            </a: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многу проблеми можат да се моделираат или приближат со линеарни методи.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Ротација – матричен модел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Кога роботот се врти околу својата оска, неговата ориентација се менува. Оваапромена може да се опише со ротациска матрица: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θ е аголот на ротација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 множење на оваа матрица со векторот на положба, може да се пресмета новата ориентација на роботот по ротацијата.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Комбинација на поместување и ротација 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 практиката, роботите истовремено се поместуваат и ротираат. За таа цел секористи хомогена трансформациска матрица, која ги комбинира двете движења: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2920" y="6639691"/>
            <a:ext cx="4384428" cy="151367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71529" y="8825490"/>
            <a:ext cx="4228897" cy="18139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1792957" y="-3621685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6" y="10349862"/>
                </a:moveTo>
                <a:lnTo>
                  <a:pt x="0" y="10349862"/>
                </a:lnTo>
                <a:lnTo>
                  <a:pt x="0" y="0"/>
                </a:lnTo>
                <a:lnTo>
                  <a:pt x="11688756" y="0"/>
                </a:lnTo>
                <a:lnTo>
                  <a:pt x="11688756" y="10349862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789480" y="-1524758"/>
            <a:ext cx="8212638" cy="821263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17135" y="4833892"/>
            <a:ext cx="7045365" cy="4589504"/>
            <a:chOff x="0" y="0"/>
            <a:chExt cx="1855570" cy="120875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55569" cy="1208758"/>
            </a:xfrm>
            <a:custGeom>
              <a:avLst/>
              <a:gdLst/>
              <a:ahLst/>
              <a:cxnLst/>
              <a:rect l="l" t="t" r="r" b="b"/>
              <a:pathLst>
                <a:path w="1855569" h="1208758">
                  <a:moveTo>
                    <a:pt x="0" y="0"/>
                  </a:moveTo>
                  <a:lnTo>
                    <a:pt x="1855569" y="0"/>
                  </a:lnTo>
                  <a:lnTo>
                    <a:pt x="1855569" y="1208758"/>
                  </a:lnTo>
                  <a:lnTo>
                    <a:pt x="0" y="1208758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855570" cy="12468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611512" y="6313254"/>
            <a:ext cx="6999088" cy="2411645"/>
            <a:chOff x="0" y="0"/>
            <a:chExt cx="1494214" cy="58314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94214" cy="583143"/>
            </a:xfrm>
            <a:custGeom>
              <a:avLst/>
              <a:gdLst/>
              <a:ahLst/>
              <a:cxnLst/>
              <a:rect l="l" t="t" r="r" b="b"/>
              <a:pathLst>
                <a:path w="1494214" h="583143">
                  <a:moveTo>
                    <a:pt x="0" y="0"/>
                  </a:moveTo>
                  <a:lnTo>
                    <a:pt x="1494214" y="0"/>
                  </a:lnTo>
                  <a:lnTo>
                    <a:pt x="1494214" y="583143"/>
                  </a:lnTo>
                  <a:lnTo>
                    <a:pt x="0" y="583143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494214" cy="6212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763888" y="4916426"/>
            <a:ext cx="6798612" cy="4864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3"/>
              </a:lnSpc>
            </a:pP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основа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оптимизацијата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стои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функцијата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која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мери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квалитетот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одредено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Таа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може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претставува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време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растојание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или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енергија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583"/>
              </a:lnSpc>
            </a:pP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Пример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едноставна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функција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е:                   ,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каде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што</a:t>
            </a: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algn="l">
              <a:lnSpc>
                <a:spcPts val="2583"/>
              </a:lnSpc>
            </a:pP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J– </a:t>
            </a:r>
            <a:r>
              <a:rPr lang="en-US" sz="151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</a:t>
            </a:r>
            <a:endParaRPr lang="en-US" sz="151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r>
              <a:rPr lang="en-US" sz="151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• 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d–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растојание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треба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помине</a:t>
            </a:r>
            <a:endParaRPr lang="en-US" sz="1519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Целта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е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минимизира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односно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избере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најкраткиот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пат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Оптимизацијата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математички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изразува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како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што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значи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дека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избира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движењето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најмала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вредност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трошокот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овој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начин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роботот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може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одбере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поефикасна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патека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наместо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подолга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519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понеефикасна</a:t>
            </a:r>
            <a:r>
              <a:rPr lang="en-US" sz="1519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583"/>
              </a:lnSpc>
              <a:spcBef>
                <a:spcPct val="0"/>
              </a:spcBef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0586" y="5848709"/>
            <a:ext cx="1084657" cy="474537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0" y="7429500"/>
            <a:ext cx="3045806" cy="937171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586794" y="2776428"/>
            <a:ext cx="5520966" cy="1685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06"/>
              </a:lnSpc>
            </a:pP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ОптимизациjА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како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математички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модел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ефикасно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558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движе</a:t>
            </a:r>
            <a:r>
              <a:rPr lang="mk-MK" sz="4300" b="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Њ</a:t>
            </a:r>
            <a:r>
              <a:rPr lang="en-US" sz="3558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е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244503" y="-1069735"/>
            <a:ext cx="7302593" cy="7302593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6"/>
              <a:stretch>
                <a:fillRect t="-10477" b="-22855"/>
              </a:stretch>
            </a:blipFill>
            <a:ln w="66675" cap="sq">
              <a:gradFill>
                <a:gsLst>
                  <a:gs pos="0">
                    <a:srgbClr val="F7DFFF">
                      <a:alpha val="100000"/>
                    </a:srgbClr>
                  </a:gs>
                  <a:gs pos="50000">
                    <a:srgbClr val="FFFFFF">
                      <a:alpha val="100000"/>
                    </a:srgbClr>
                  </a:gs>
                  <a:gs pos="100000">
                    <a:srgbClr val="87EFFF">
                      <a:alpha val="100000"/>
                    </a:srgbClr>
                  </a:gs>
                </a:gsLst>
                <a:lin ang="2700000"/>
              </a:gradFill>
              <a:prstDash val="solid"/>
              <a:miter/>
            </a:ln>
          </p:spPr>
        </p:sp>
      </p:grpSp>
      <p:sp>
        <p:nvSpPr>
          <p:cNvPr id="21" name="Freeform 21"/>
          <p:cNvSpPr/>
          <p:nvPr/>
        </p:nvSpPr>
        <p:spPr>
          <a:xfrm>
            <a:off x="10021671" y="4004942"/>
            <a:ext cx="7960894" cy="5970671"/>
          </a:xfrm>
          <a:custGeom>
            <a:avLst/>
            <a:gdLst/>
            <a:ahLst/>
            <a:cxnLst/>
            <a:rect l="l" t="t" r="r" b="b"/>
            <a:pathLst>
              <a:path w="7960894" h="5970671">
                <a:moveTo>
                  <a:pt x="0" y="0"/>
                </a:moveTo>
                <a:lnTo>
                  <a:pt x="7960894" y="0"/>
                </a:lnTo>
                <a:lnTo>
                  <a:pt x="7960894" y="5970671"/>
                </a:lnTo>
                <a:lnTo>
                  <a:pt x="0" y="59706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6390" r="-6390"/>
            </a:stretch>
          </a:blipFill>
          <a:ln w="38100" cap="rnd">
            <a:solidFill>
              <a:srgbClr val="000000"/>
            </a:solidFill>
            <a:prstDash val="solid"/>
            <a:round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2674042" y="1365153"/>
            <a:ext cx="7729147" cy="5926643"/>
            <a:chOff x="0" y="0"/>
            <a:chExt cx="795001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795001" cy="609600"/>
            </a:xfrm>
            <a:custGeom>
              <a:avLst/>
              <a:gdLst/>
              <a:ahLst/>
              <a:cxnLst/>
              <a:rect l="l" t="t" r="r" b="b"/>
              <a:pathLst>
                <a:path w="795001" h="609600">
                  <a:moveTo>
                    <a:pt x="591801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795001" y="609600"/>
                  </a:lnTo>
                  <a:lnTo>
                    <a:pt x="591801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591801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1429257" y="1710423"/>
            <a:ext cx="5942440" cy="5157457"/>
            <a:chOff x="0" y="0"/>
            <a:chExt cx="691833" cy="6004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91833" cy="600444"/>
            </a:xfrm>
            <a:custGeom>
              <a:avLst/>
              <a:gdLst/>
              <a:ahLst/>
              <a:cxnLst/>
              <a:rect l="l" t="t" r="r" b="b"/>
              <a:pathLst>
                <a:path w="691833" h="600444">
                  <a:moveTo>
                    <a:pt x="488633" y="0"/>
                  </a:moveTo>
                  <a:lnTo>
                    <a:pt x="0" y="0"/>
                  </a:lnTo>
                  <a:lnTo>
                    <a:pt x="203200" y="600444"/>
                  </a:lnTo>
                  <a:lnTo>
                    <a:pt x="691833" y="600444"/>
                  </a:lnTo>
                  <a:lnTo>
                    <a:pt x="488633" y="0"/>
                  </a:lnTo>
                  <a:close/>
                </a:path>
              </a:pathLst>
            </a:custGeom>
            <a:blipFill>
              <a:blip r:embed="rId4"/>
              <a:stretch>
                <a:fillRect t="-32300" b="-32300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3852544" y="2847407"/>
            <a:ext cx="6398943" cy="5926643"/>
            <a:chOff x="0" y="0"/>
            <a:chExt cx="658180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58180" cy="609600"/>
            </a:xfrm>
            <a:custGeom>
              <a:avLst/>
              <a:gdLst/>
              <a:ahLst/>
              <a:cxnLst/>
              <a:rect l="l" t="t" r="r" b="b"/>
              <a:pathLst>
                <a:path w="658180" h="609600">
                  <a:moveTo>
                    <a:pt x="454980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58180" y="609600"/>
                  </a:lnTo>
                  <a:lnTo>
                    <a:pt x="45498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4549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350856" y="3192677"/>
            <a:ext cx="5199164" cy="5236105"/>
            <a:chOff x="0" y="0"/>
            <a:chExt cx="605299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05299" cy="609600"/>
            </a:xfrm>
            <a:custGeom>
              <a:avLst/>
              <a:gdLst/>
              <a:ahLst/>
              <a:cxnLst/>
              <a:rect l="l" t="t" r="r" b="b"/>
              <a:pathLst>
                <a:path w="605299" h="609600">
                  <a:moveTo>
                    <a:pt x="402099" y="0"/>
                  </a:moveTo>
                  <a:lnTo>
                    <a:pt x="0" y="0"/>
                  </a:lnTo>
                  <a:lnTo>
                    <a:pt x="203200" y="609600"/>
                  </a:lnTo>
                  <a:lnTo>
                    <a:pt x="605299" y="609600"/>
                  </a:lnTo>
                  <a:lnTo>
                    <a:pt x="402099" y="0"/>
                  </a:lnTo>
                  <a:close/>
                </a:path>
              </a:pathLst>
            </a:custGeom>
            <a:blipFill>
              <a:blip r:embed="rId5"/>
              <a:stretch>
                <a:fillRect t="-13867" b="-13867"/>
              </a:stretch>
            </a:blipFill>
          </p:spPr>
        </p:sp>
      </p:grpSp>
      <p:sp>
        <p:nvSpPr>
          <p:cNvPr id="15" name="TextBox 15"/>
          <p:cNvSpPr txBox="1"/>
          <p:nvPr/>
        </p:nvSpPr>
        <p:spPr>
          <a:xfrm>
            <a:off x="9434702" y="1512949"/>
            <a:ext cx="7711016" cy="2279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49"/>
              </a:lnSpc>
            </a:pPr>
            <a:r>
              <a:rPr lang="en-US" sz="4999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Геометриски</a:t>
            </a:r>
            <a:r>
              <a:rPr lang="en-US" sz="4999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999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модели</a:t>
            </a:r>
            <a:r>
              <a:rPr lang="en-US" sz="4999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999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каj</a:t>
            </a:r>
            <a:r>
              <a:rPr lang="en-US" sz="4999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4999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меки</a:t>
            </a:r>
            <a:r>
              <a:rPr lang="en-US" sz="4999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(soft) </a:t>
            </a:r>
            <a:r>
              <a:rPr lang="en-US" sz="4999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роботи</a:t>
            </a:r>
            <a:endParaRPr lang="en-US" sz="4999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0084823" y="4252275"/>
            <a:ext cx="7506986" cy="5396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6"/>
              </a:lnSpc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Во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современата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роботика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користат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меки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(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флексибилни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)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роботи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можат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деформираат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прилагодуваат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сложени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средини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716"/>
              </a:lnSpc>
            </a:pP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Карактеристики</a:t>
            </a:r>
            <a:endParaRPr lang="en-US" sz="1597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44987" lvl="1" indent="-172494" algn="l">
              <a:lnSpc>
                <a:spcPts val="2716"/>
              </a:lnSpc>
              <a:buFont typeface="Arial"/>
              <a:buChar char="•"/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Флексибилност</a:t>
            </a:r>
            <a:endParaRPr lang="en-US" sz="159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 algn="l">
              <a:lnSpc>
                <a:spcPts val="2716"/>
              </a:lnSpc>
              <a:buFont typeface="Arial"/>
              <a:buChar char="•"/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Прилагодување</a:t>
            </a:r>
            <a:endParaRPr lang="en-US" sz="159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 algn="l">
              <a:lnSpc>
                <a:spcPts val="2716"/>
              </a:lnSpc>
              <a:buFont typeface="Arial"/>
              <a:buChar char="•"/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Безбедност</a:t>
            </a:r>
            <a:endParaRPr lang="en-US" sz="1597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716"/>
              </a:lnSpc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Поради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нивната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структура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користат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напредни</a:t>
            </a:r>
            <a:r>
              <a:rPr lang="en-US" sz="1597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модели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опишување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движењето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716"/>
              </a:lnSpc>
            </a:pP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97" b="1" dirty="0" err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Моделирање</a:t>
            </a:r>
            <a:endParaRPr lang="en-US" sz="1597" b="1" dirty="0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344987" lvl="1" indent="-172494" algn="l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Геометриски</a:t>
            </a:r>
            <a:r>
              <a:rPr lang="en-US" sz="1597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ристапи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 algn="l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Cosserat</a:t>
            </a: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стапки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716"/>
              </a:lnSpc>
              <a:spcBef>
                <a:spcPct val="0"/>
              </a:spcBef>
            </a:pP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Симулација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 algn="l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Поделба</a:t>
            </a: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</a:t>
            </a: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сегменти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4987" lvl="1" indent="-172494" algn="l">
              <a:lnSpc>
                <a:spcPts val="2716"/>
              </a:lnSpc>
              <a:spcBef>
                <a:spcPct val="0"/>
              </a:spcBef>
              <a:buFont typeface="Arial"/>
              <a:buChar char="•"/>
            </a:pP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Поголема</a:t>
            </a:r>
            <a:r>
              <a:rPr lang="en-US" sz="1597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597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прецизност</a:t>
            </a:r>
            <a:endParaRPr lang="en-US" sz="1597" u="none" strike="noStrik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>
              <a:lnSpc>
                <a:spcPts val="2716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696200" y="643890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 dirty="0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pic>
        <p:nvPicPr>
          <p:cNvPr id="17" name="Picture 16" descr="ChatGPT Image May 5, 2026, 10_33_04 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1028700" y="1028700"/>
            <a:ext cx="7620583" cy="3723546"/>
            <a:chOff x="0" y="0"/>
            <a:chExt cx="1247603" cy="6096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47603" cy="609600"/>
            </a:xfrm>
            <a:custGeom>
              <a:avLst/>
              <a:gdLst/>
              <a:ahLst/>
              <a:cxnLst/>
              <a:rect l="l" t="t" r="r" b="b"/>
              <a:pathLst>
                <a:path w="1247603" h="609600">
                  <a:moveTo>
                    <a:pt x="203200" y="0"/>
                  </a:moveTo>
                  <a:lnTo>
                    <a:pt x="1247603" y="0"/>
                  </a:lnTo>
                  <a:lnTo>
                    <a:pt x="104440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104440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50733" y="1357854"/>
            <a:ext cx="6576518" cy="3065237"/>
            <a:chOff x="0" y="0"/>
            <a:chExt cx="1307907" cy="6096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07907" cy="609600"/>
            </a:xfrm>
            <a:custGeom>
              <a:avLst/>
              <a:gdLst/>
              <a:ahLst/>
              <a:cxnLst/>
              <a:rect l="l" t="t" r="r" b="b"/>
              <a:pathLst>
                <a:path w="1307907" h="609600">
                  <a:moveTo>
                    <a:pt x="203200" y="0"/>
                  </a:moveTo>
                  <a:lnTo>
                    <a:pt x="1307907" y="0"/>
                  </a:lnTo>
                  <a:lnTo>
                    <a:pt x="110470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4" cstate="print"/>
              <a:stretch>
                <a:fillRect l="-87072" t="-22969" b="-144943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7319343" y="2235313"/>
            <a:ext cx="7620583" cy="3723546"/>
            <a:chOff x="0" y="0"/>
            <a:chExt cx="1247603" cy="6096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47603" cy="609600"/>
            </a:xfrm>
            <a:custGeom>
              <a:avLst/>
              <a:gdLst/>
              <a:ahLst/>
              <a:cxnLst/>
              <a:rect l="l" t="t" r="r" b="b"/>
              <a:pathLst>
                <a:path w="1247603" h="609600">
                  <a:moveTo>
                    <a:pt x="203200" y="0"/>
                  </a:moveTo>
                  <a:lnTo>
                    <a:pt x="1247603" y="0"/>
                  </a:lnTo>
                  <a:lnTo>
                    <a:pt x="104440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101600" y="-38100"/>
              <a:ext cx="104440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841376" y="2564468"/>
            <a:ext cx="6576518" cy="3065237"/>
            <a:chOff x="0" y="0"/>
            <a:chExt cx="1307907" cy="609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307907" cy="609600"/>
            </a:xfrm>
            <a:custGeom>
              <a:avLst/>
              <a:gdLst/>
              <a:ahLst/>
              <a:cxnLst/>
              <a:rect l="l" t="t" r="r" b="b"/>
              <a:pathLst>
                <a:path w="1307907" h="609600">
                  <a:moveTo>
                    <a:pt x="203200" y="0"/>
                  </a:moveTo>
                  <a:lnTo>
                    <a:pt x="1307907" y="0"/>
                  </a:lnTo>
                  <a:lnTo>
                    <a:pt x="1104707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 cstate="print"/>
              <a:stretch>
                <a:fillRect t="-21606" b="-21606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13609986" y="3441927"/>
            <a:ext cx="6260308" cy="3723546"/>
            <a:chOff x="0" y="0"/>
            <a:chExt cx="1024906" cy="6096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24906" cy="609600"/>
            </a:xfrm>
            <a:custGeom>
              <a:avLst/>
              <a:gdLst/>
              <a:ahLst/>
              <a:cxnLst/>
              <a:rect l="l" t="t" r="r" b="b"/>
              <a:pathLst>
                <a:path w="1024906" h="609600">
                  <a:moveTo>
                    <a:pt x="203200" y="0"/>
                  </a:moveTo>
                  <a:lnTo>
                    <a:pt x="1024906" y="0"/>
                  </a:lnTo>
                  <a:lnTo>
                    <a:pt x="82170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101600" y="-38100"/>
              <a:ext cx="82170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132019" y="3771081"/>
            <a:ext cx="5284256" cy="3065237"/>
            <a:chOff x="0" y="0"/>
            <a:chExt cx="1050908" cy="6096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50908" cy="609600"/>
            </a:xfrm>
            <a:custGeom>
              <a:avLst/>
              <a:gdLst/>
              <a:ahLst/>
              <a:cxnLst/>
              <a:rect l="l" t="t" r="r" b="b"/>
              <a:pathLst>
                <a:path w="1050908" h="609600">
                  <a:moveTo>
                    <a:pt x="203200" y="0"/>
                  </a:moveTo>
                  <a:lnTo>
                    <a:pt x="1050908" y="0"/>
                  </a:lnTo>
                  <a:lnTo>
                    <a:pt x="847708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6"/>
              <a:stretch>
                <a:fillRect b="-159237"/>
              </a:stretch>
            </a:blipFill>
          </p:spPr>
        </p:sp>
      </p:grpSp>
      <p:sp>
        <p:nvSpPr>
          <p:cNvPr id="20" name="TextBox 20"/>
          <p:cNvSpPr txBox="1"/>
          <p:nvPr/>
        </p:nvSpPr>
        <p:spPr>
          <a:xfrm>
            <a:off x="283195" y="6452780"/>
            <a:ext cx="5100327" cy="1780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62"/>
              </a:lnSpc>
            </a:pP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Примена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на</a:t>
            </a:r>
            <a:r>
              <a:rPr lang="en-US" sz="5754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5754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роботите</a:t>
            </a:r>
            <a:endParaRPr lang="en-US" sz="5754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6142224" y="6264428"/>
            <a:ext cx="5718374" cy="3080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34"/>
              </a:lnSpc>
              <a:spcBef>
                <a:spcPct val="0"/>
              </a:spcBef>
            </a:pPr>
            <a:r>
              <a:rPr lang="en-US" sz="11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Роботите денес имаат широка примена во </a:t>
            </a:r>
            <a:r>
              <a:rPr lang="en-US" sz="1138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секојдневниот и професионалниот живот</a:t>
            </a:r>
            <a:r>
              <a:rPr lang="en-US" sz="1138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особено в</a:t>
            </a: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о индустријата и медицината.</a:t>
            </a:r>
          </a:p>
          <a:p>
            <a:pPr marL="0" lvl="0" indent="0" algn="l">
              <a:lnSpc>
                <a:spcPts val="1934"/>
              </a:lnSpc>
              <a:spcBef>
                <a:spcPct val="0"/>
              </a:spcBef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138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Индустрија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Автоматизација на процеси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Задачи: заварување, склопување, пакување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Голема </a:t>
            </a:r>
            <a:r>
              <a:rPr lang="en-US" sz="1138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прецизност и ефикасност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Намален ризик за работниците</a:t>
            </a:r>
          </a:p>
          <a:p>
            <a:pPr marL="0" lvl="0" indent="0" algn="l">
              <a:lnSpc>
                <a:spcPts val="1934"/>
              </a:lnSpc>
              <a:spcBef>
                <a:spcPct val="0"/>
              </a:spcBef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🔹 </a:t>
            </a:r>
            <a:r>
              <a:rPr lang="en-US" sz="1138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Медицина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Хирургија и рехабилитација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Висока</a:t>
            </a:r>
            <a:r>
              <a:rPr lang="en-US" sz="1138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прецизност при операции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Побрзо закрепнување</a:t>
            </a:r>
          </a:p>
          <a:p>
            <a:pPr marL="245736" lvl="1" indent="-122868" algn="l">
              <a:lnSpc>
                <a:spcPts val="1934"/>
              </a:lnSpc>
              <a:spcBef>
                <a:spcPct val="0"/>
              </a:spcBef>
              <a:buFont typeface="Arial"/>
              <a:buChar char="•"/>
            </a:pPr>
            <a:r>
              <a:rPr lang="en-US" sz="1138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Помал ризик од компликации</a:t>
            </a:r>
          </a:p>
          <a:p>
            <a:pPr marL="0" lvl="0" indent="0" algn="l">
              <a:lnSpc>
                <a:spcPts val="1934"/>
              </a:lnSpc>
              <a:spcBef>
                <a:spcPct val="0"/>
              </a:spcBef>
            </a:pPr>
            <a:endParaRPr/>
          </a:p>
        </p:txBody>
      </p:sp>
      <p:sp>
        <p:nvSpPr>
          <p:cNvPr id="22" name="TextBox 22"/>
          <p:cNvSpPr txBox="1"/>
          <p:nvPr/>
        </p:nvSpPr>
        <p:spPr>
          <a:xfrm>
            <a:off x="11712999" y="7268276"/>
            <a:ext cx="6453854" cy="33286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r>
              <a:rPr lang="en-US" sz="112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Роботите се</a:t>
            </a: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користат и во </a:t>
            </a:r>
            <a:r>
              <a:rPr lang="en-US" sz="112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терапија и рехабилитација</a:t>
            </a: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каде што помагаат во повторување на движења и подобрување на моторните способности.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Рехабилитација на пациенти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Подобрување на движење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Контролирани и прецизни вежби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Роботите имаат важна улога и во образованието, како алатка за учење и развој на вештини.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Учење програмирање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Развој на логичко размислување</a:t>
            </a:r>
          </a:p>
          <a:p>
            <a:pPr marL="243929" lvl="1" indent="-121964" algn="l">
              <a:lnSpc>
                <a:spcPts val="1920"/>
              </a:lnSpc>
              <a:spcBef>
                <a:spcPct val="0"/>
              </a:spcBef>
              <a:buFont typeface="Arial"/>
              <a:buChar char="•"/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Примена на математика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Роботите имаат </a:t>
            </a:r>
            <a:r>
              <a:rPr lang="en-US" sz="1129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големо значење</a:t>
            </a:r>
            <a:r>
              <a:rPr lang="en-US" sz="1129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и придонесуваат за развојот на современото општество.</a:t>
            </a:r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1920"/>
              </a:lnSpc>
              <a:spcBef>
                <a:spcPct val="0"/>
              </a:spcBef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248561" y="2346151"/>
            <a:ext cx="4072299" cy="5594698"/>
            <a:chOff x="0" y="0"/>
            <a:chExt cx="630906" cy="866765"/>
          </a:xfrm>
        </p:grpSpPr>
        <p:sp>
          <p:nvSpPr>
            <p:cNvPr id="3" name="Freeform 3"/>
            <p:cNvSpPr/>
            <p:nvPr/>
          </p:nvSpPr>
          <p:spPr>
            <a:xfrm flipH="1">
              <a:off x="0" y="0"/>
              <a:ext cx="630906" cy="866765"/>
            </a:xfrm>
            <a:custGeom>
              <a:avLst/>
              <a:gdLst/>
              <a:ahLst/>
              <a:cxnLst/>
              <a:rect l="l" t="t" r="r" b="b"/>
              <a:pathLst>
                <a:path w="630906" h="866765">
                  <a:moveTo>
                    <a:pt x="630906" y="0"/>
                  </a:moveTo>
                  <a:lnTo>
                    <a:pt x="0" y="0"/>
                  </a:lnTo>
                  <a:lnTo>
                    <a:pt x="0" y="866765"/>
                  </a:lnTo>
                  <a:lnTo>
                    <a:pt x="630906" y="866765"/>
                  </a:lnTo>
                  <a:close/>
                </a:path>
              </a:pathLst>
            </a:custGeom>
            <a:blipFill>
              <a:blip r:embed="rId2" cstate="print"/>
              <a:stretch>
                <a:fillRect t="-4728" b="-4728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7945643" y="7566021"/>
            <a:ext cx="5687483" cy="4855688"/>
          </a:xfrm>
          <a:custGeom>
            <a:avLst/>
            <a:gdLst/>
            <a:ahLst/>
            <a:cxnLst/>
            <a:rect l="l" t="t" r="r" b="b"/>
            <a:pathLst>
              <a:path w="5687483" h="4855688">
                <a:moveTo>
                  <a:pt x="0" y="0"/>
                </a:moveTo>
                <a:lnTo>
                  <a:pt x="5687482" y="0"/>
                </a:lnTo>
                <a:lnTo>
                  <a:pt x="5687482" y="4855688"/>
                </a:lnTo>
                <a:lnTo>
                  <a:pt x="0" y="4855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8148880" y="3467758"/>
            <a:ext cx="9110420" cy="3758844"/>
            <a:chOff x="0" y="0"/>
            <a:chExt cx="4307901" cy="177738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07901" cy="1777386"/>
            </a:xfrm>
            <a:custGeom>
              <a:avLst/>
              <a:gdLst/>
              <a:ahLst/>
              <a:cxnLst/>
              <a:rect l="l" t="t" r="r" b="b"/>
              <a:pathLst>
                <a:path w="4307901" h="1777386">
                  <a:moveTo>
                    <a:pt x="0" y="0"/>
                  </a:moveTo>
                  <a:lnTo>
                    <a:pt x="4307901" y="0"/>
                  </a:lnTo>
                  <a:lnTo>
                    <a:pt x="4307901" y="1777386"/>
                  </a:lnTo>
                  <a:lnTo>
                    <a:pt x="0" y="1777386"/>
                  </a:lnTo>
                  <a:close/>
                </a:path>
              </a:pathLst>
            </a:custGeom>
            <a:gradFill rotWithShape="1">
              <a:gsLst>
                <a:gs pos="0">
                  <a:srgbClr val="002A49">
                    <a:alpha val="100000"/>
                  </a:srgbClr>
                </a:gs>
                <a:gs pos="100000">
                  <a:srgbClr val="000E19">
                    <a:alpha val="100000"/>
                  </a:srgbClr>
                </a:gs>
              </a:gsLst>
              <a:lin ang="0"/>
            </a:gradFill>
            <a:ln w="9525" cap="sq">
              <a:gradFill>
                <a:gsLst>
                  <a:gs pos="0">
                    <a:srgbClr val="0093AD">
                      <a:alpha val="100000"/>
                    </a:srgbClr>
                  </a:gs>
                  <a:gs pos="100000">
                    <a:srgbClr val="005564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307901" cy="18345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На крај, може да се заклучи дека роботиката има сè поголемо значење во современото општество и претставува област со голем потенцијал за понатамошен развој. Изучувањето на анимацијата, програмирањето и математичките модели кај роботите овозможува подобро разбирање на примената на теоретските знаења во пракса.</a:t>
              </a:r>
            </a:p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323154" y="1329423"/>
            <a:ext cx="8355397" cy="1546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19"/>
              </a:lnSpc>
            </a:pPr>
            <a:r>
              <a:rPr lang="en-US" sz="120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ЗАКЛУЧОК</a:t>
            </a:r>
          </a:p>
        </p:txBody>
      </p:sp>
      <p:sp>
        <p:nvSpPr>
          <p:cNvPr id="9" name="Freeform 9"/>
          <p:cNvSpPr/>
          <p:nvPr/>
        </p:nvSpPr>
        <p:spPr>
          <a:xfrm flipH="1">
            <a:off x="16741905" y="1964740"/>
            <a:ext cx="3041315" cy="2596523"/>
          </a:xfrm>
          <a:custGeom>
            <a:avLst/>
            <a:gdLst/>
            <a:ahLst/>
            <a:cxnLst/>
            <a:rect l="l" t="t" r="r" b="b"/>
            <a:pathLst>
              <a:path w="3041315" h="2596523">
                <a:moveTo>
                  <a:pt x="3041315" y="0"/>
                </a:moveTo>
                <a:lnTo>
                  <a:pt x="0" y="0"/>
                </a:lnTo>
                <a:lnTo>
                  <a:pt x="0" y="2596523"/>
                </a:lnTo>
                <a:lnTo>
                  <a:pt x="3041315" y="2596523"/>
                </a:lnTo>
                <a:lnTo>
                  <a:pt x="3041315" y="0"/>
                </a:lnTo>
                <a:close/>
              </a:path>
            </a:pathLst>
          </a:custGeom>
          <a:blipFill>
            <a:blip r:embed="rId4" cstate="print"/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B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252317" y="-3661981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11688755" y="10349861"/>
                </a:moveTo>
                <a:lnTo>
                  <a:pt x="0" y="10349861"/>
                </a:lnTo>
                <a:lnTo>
                  <a:pt x="0" y="0"/>
                </a:lnTo>
                <a:lnTo>
                  <a:pt x="11688755" y="0"/>
                </a:lnTo>
                <a:lnTo>
                  <a:pt x="11688755" y="10349861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-838901" y="86116"/>
            <a:ext cx="19380926" cy="3974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934"/>
              </a:lnSpc>
              <a:spcBef>
                <a:spcPct val="0"/>
              </a:spcBef>
            </a:pPr>
            <a:r>
              <a:rPr lang="en-US" sz="1138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ви</a:t>
            </a:r>
            <a:r>
              <a:rPr lang="en-US" sz="1138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38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благодарам</a:t>
            </a:r>
            <a:r>
              <a:rPr lang="en-US" sz="1138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38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за</a:t>
            </a:r>
            <a:r>
              <a:rPr lang="en-US" sz="11381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381" dirty="0" err="1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Arial"/>
                <a:ea typeface="Arial"/>
                <a:cs typeface="Arial"/>
                <a:sym typeface="Arial"/>
              </a:rPr>
              <a:t>вниманието</a:t>
            </a:r>
            <a:endParaRPr lang="en-US" sz="11381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glow rad="228600">
                  <a:schemeClr val="accent1">
                    <a:satMod val="175000"/>
                    <a:alpha val="40000"/>
                  </a:schemeClr>
                </a:glow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8851562" y="3599120"/>
            <a:ext cx="11688756" cy="10349862"/>
          </a:xfrm>
          <a:custGeom>
            <a:avLst/>
            <a:gdLst/>
            <a:ahLst/>
            <a:cxnLst/>
            <a:rect l="l" t="t" r="r" b="b"/>
            <a:pathLst>
              <a:path w="11688756" h="10349862">
                <a:moveTo>
                  <a:pt x="0" y="0"/>
                </a:moveTo>
                <a:lnTo>
                  <a:pt x="11688755" y="0"/>
                </a:lnTo>
                <a:lnTo>
                  <a:pt x="11688755" y="10349861"/>
                </a:lnTo>
                <a:lnTo>
                  <a:pt x="0" y="103498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8251152"/>
            <a:ext cx="6637155" cy="239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509"/>
              </a:lnSpc>
              <a:spcBef>
                <a:spcPct val="0"/>
              </a:spcBef>
            </a:pPr>
            <a:r>
              <a:rPr lang="en-US" sz="13935">
                <a:solidFill>
                  <a:srgbClr val="FFFFFF">
                    <a:alpha val="1961"/>
                  </a:srgbClr>
                </a:solidFill>
                <a:latin typeface="Arial"/>
                <a:ea typeface="Arial"/>
                <a:cs typeface="Arial"/>
                <a:sym typeface="Arial"/>
              </a:rPr>
              <a:t>Robotic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595591" y="3287217"/>
            <a:ext cx="9096817" cy="9096817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194FF">
                <a:alpha val="19608"/>
              </a:srgbClr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5099602" y="3791227"/>
            <a:ext cx="8088796" cy="808879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4"/>
              <a:stretch>
                <a:fillRect l="-43264" r="-6688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4444884" y="3734077"/>
            <a:ext cx="3843116" cy="666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endParaRPr/>
          </a:p>
          <a:p>
            <a:pPr algn="l">
              <a:lnSpc>
                <a:spcPts val="2039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6. Robotics Industries Association (RIA).</a:t>
            </a:r>
          </a:p>
          <a:p>
            <a:pPr algn="l">
              <a:lnSpc>
                <a:spcPts val="2039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 Basics.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Достапно на: </a:t>
            </a:r>
            <a:r>
              <a:rPr lang="en-US" sz="1200" u="sng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5" tooltip="https://www.robotics.org"/>
              </a:rPr>
              <a:t>Lorem ipsum dolor sit amet, consectetur adipiscing elit, sed do eiusmod tempor incididunt ut labore et dolore magna aliqua. Ut enim ad minim veniam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7. MathWorks.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 Simulation and Robotics Applications.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Достапно на: </a:t>
            </a:r>
            <a:r>
              <a:rPr lang="en-US" sz="1200" u="sng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6" tooltip="https://www.mathworks.com/discovery/robot-simulation.html"/>
              </a:rPr>
              <a:t>Lorem ipsum dolor sit amet, consectetur adipiscing elit, sed do eiusmod tempor incididunt ut labore et dolore magna aliqua. Ut enim ad minim veniam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8. Dasanayake, P. S., Baranauskas, V., Dervinis, G., Balasevicius, L.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 Review of Mathematical Models in Robotics.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9. Spong, M. W., Hutchinson, S., &amp; Vidyasagar, M.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 Modeling and Control.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John Wiley &amp; Sons, 2006.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10. Lynch, K. M., &amp; Park, F. C.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Modern Robotics: Mechanics, Planning, and Control.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Cambridge University Press, 2017.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  <a:p>
            <a:pPr marL="0" lvl="0" indent="0" algn="l">
              <a:lnSpc>
                <a:spcPts val="2039"/>
              </a:lnSpc>
              <a:spcBef>
                <a:spcPct val="0"/>
              </a:spcBef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233917" y="4207028"/>
            <a:ext cx="4113361" cy="5381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039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Користена литература</a:t>
            </a:r>
          </a:p>
          <a:p>
            <a:pPr algn="r">
              <a:lnSpc>
                <a:spcPts val="2039"/>
              </a:lnSpc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Craig, J. J.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Robotics: Mechanics and C</a:t>
            </a: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ontrol.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Pearson Education, 2005.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Siciliano, B., Sciavicco, L., Villani, L., Oriolo, G.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Robotics: Modelling, Planning and Control.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Springer, 2010.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Стојанов, Г., Георгиев, Д., Јанев, М.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Информатика за гимназија.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Министерство за образование и наука на Република Северна Македонија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 Tedrake, R.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Robotics – MIT OpenCourseWare.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Massachusetts Institute of Technology (MIT).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Достапно на: </a:t>
            </a:r>
            <a:r>
              <a:rPr lang="en-US" sz="1200" u="sng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7" tooltip="https://ocw.mit.edu"/>
              </a:rPr>
              <a:t>https://ocw.mit.edu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5. NASA Robotics Alliance Project.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National Aeronautics and Space Administration (NASA).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Robotics Alliance Project – Robotics and Engineering Resources.</a:t>
            </a:r>
          </a:p>
          <a:p>
            <a:pPr marL="0" lvl="0" indent="0" algn="r">
              <a:lnSpc>
                <a:spcPts val="2039"/>
              </a:lnSpc>
              <a:spcBef>
                <a:spcPct val="0"/>
              </a:spcBef>
            </a:pPr>
            <a:r>
              <a:rPr lang="en-US" sz="1200" u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Достапно на: </a:t>
            </a:r>
            <a:r>
              <a:rPr lang="en-US" sz="1200" u="sng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  <a:hlinkClick r:id="rId8" tooltip="https://robotics.nasa.gov"/>
              </a:rPr>
              <a:t>https://robotics.nasa.gov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1273</Words>
  <Application>Microsoft Office PowerPoint</Application>
  <PresentationFormat>Custom</PresentationFormat>
  <Paragraphs>167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Montserrat</vt:lpstr>
      <vt:lpstr>Montserrat Bold</vt:lpstr>
      <vt:lpstr>Poppins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Dynamic Futuristic Robotic Presentation</dc:title>
  <dc:creator>Slagana Nakevska</dc:creator>
  <cp:lastModifiedBy>support life</cp:lastModifiedBy>
  <cp:revision>4</cp:revision>
  <dcterms:created xsi:type="dcterms:W3CDTF">2006-08-16T00:00:00Z</dcterms:created>
  <dcterms:modified xsi:type="dcterms:W3CDTF">2026-05-05T20:57:17Z</dcterms:modified>
  <dc:identifier>DAHIizVxm4w</dc:identifier>
</cp:coreProperties>
</file>